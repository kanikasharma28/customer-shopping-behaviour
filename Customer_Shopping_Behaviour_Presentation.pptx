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Orders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F6E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1737</c:v>
                </c:pt>
                <c:pt idx="1">
                  <c:v>1240</c:v>
                </c:pt>
                <c:pt idx="2">
                  <c:v>599</c:v>
                </c:pt>
                <c:pt idx="3">
                  <c:v>324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Revenue by Age Group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Adult</c:v>
                  </c:pt>
                  <c:pt idx="2">
                    <c:v>Middle-aged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51840</c:v>
                </c:pt>
                <c:pt idx="1">
                  <c:v>56320</c:v>
                </c:pt>
                <c:pt idx="2">
                  <c:v>61758</c:v>
                </c:pt>
                <c:pt idx="3">
                  <c:v>63163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500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Customer Segments (SQL Q7 — CTE)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F43F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3248</c:v>
                </c:pt>
                <c:pt idx="1">
                  <c:v>573</c:v>
                </c:pt>
                <c:pt idx="2">
                  <c:v>79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Avg Purchase by Season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($)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Fall</c:v>
                  </c:pt>
                  <c:pt idx="1">
                    <c:v>Winter</c:v>
                  </c:pt>
                  <c:pt idx="2">
                    <c:v>Spring</c:v>
                  </c:pt>
                  <c:pt idx="3">
                    <c:v>Summer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61.56</c:v>
                </c:pt>
                <c:pt idx="1">
                  <c:v>60.36</c:v>
                </c:pt>
                <c:pt idx="2">
                  <c:v>58.74</c:v>
                </c:pt>
                <c:pt idx="3">
                  <c:v>58.41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7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91440"/>
            <a:ext cx="1645920" cy="16459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365760"/>
            <a:ext cx="914400" cy="9144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Analysis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31520" y="2542032"/>
            <a:ext cx="12801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249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Project using Python · MySQL · Power BI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564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0360" y="34290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34564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80360" y="38953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4290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4564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38953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34290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34564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8040" y="38953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Kanika Sharma  |  B.Tech CSE  |  Tools: Python  ·  MySQL  ·  Power BI  ·  Jupyter Notebook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data to business insights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9339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993392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" y="10789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1214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3,900 rows × 18 cols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8712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purchase records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5526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duplicates found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67712" y="2450592"/>
            <a:ext cx="219456" cy="256032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1051560"/>
            <a:ext cx="199339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1051560"/>
            <a:ext cx="199339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07792" y="10789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87168" y="17830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EDA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87168" y="21214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78608" y="248716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Loaded with Pandas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78608" y="28712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 null values handled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78608" y="325526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engineering done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2450592"/>
            <a:ext cx="219456" cy="256032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0016" y="1051560"/>
            <a:ext cx="199339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1051560"/>
            <a:ext cx="199339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700016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10789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00016" y="17830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00016" y="21214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91456" y="248716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Exported via SQLAlchemy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91456" y="28712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analytical queries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91456" y="325526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Subquery &amp; Window fns used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93408" y="2450592"/>
            <a:ext cx="219456" cy="256032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12864" y="1051560"/>
            <a:ext cx="199339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12864" y="1051560"/>
            <a:ext cx="19933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912864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33488" y="10789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12864" y="17830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12864" y="21214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04304" y="248716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dashboard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04304" y="28712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cards + 6 visuals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04304" y="325526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Slicers &amp; map included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Outcome: Customer behavior patterns, revenue trends, loyalty insights and 6 actionable business recommendations delivered through an interactive Power BI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— Data Cleaning &amp; 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 |  Pandas  |  NumPy  |  SQLAlchemy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206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424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Loading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316736"/>
            <a:ext cx="405993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35024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pd.read_csv("customer_shopping_behavior.csv")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Shape: 3,900 rows × 18 columns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8928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dataset using Pandas. Verified 3,900 rows and 18 columns.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05840"/>
            <a:ext cx="4206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424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Missing Value 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73752" y="1316736"/>
            <a:ext cx="405993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335024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Review Rating: 37 nulls found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040" y="18928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37 missing Review Ratings. Filled using median per category.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04288"/>
            <a:ext cx="4206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3408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Null Handling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2615184"/>
            <a:ext cx="405993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633472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df["Review Rating"] = df.groupby("Category")["Review Rating"]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.transform(lambda x: x.fillna(x.median()))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1912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group-wise median imputation — preserves category-level accuracy.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30428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304288"/>
            <a:ext cx="4206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3408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Column Renaming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73752" y="2615184"/>
            <a:ext cx="405993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633472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= df.columns.str.lower().str.replace(" ","_")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df.rename(columns={"purchase_amount_(usd)":"purchase_amount"})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31912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all column names to snake_case for MySQL compatibility.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6027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02736"/>
            <a:ext cx="4206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393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Feature Engineering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" y="3913632"/>
            <a:ext cx="405993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931920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["Young Adult","Adult","Middle-aged","Senior"]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df["age_group"] = pd.qcut(df["age"], q=4, labels=labels)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frequency_mapping = {"Weekly":7,"Fortnightly":14,"Monthly":30,...}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df["purchase_frequency_days"] = df["frequency_of_purchases"].map(frequency_mapping)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4897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(quartile-based) and purchase_frequency_days columns.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6027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602736"/>
            <a:ext cx="4206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6393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Drop Duplicate Col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73752" y="3913632"/>
            <a:ext cx="405993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931920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promo_code_used == discount_applied (100% match)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(df["discount_applied"]==df["promo_code_used"]).all()  #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df.drop("promo_code_used", axis=1)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92040" y="44897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promo_code_used was identical to discount_applied — removed it.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773168"/>
            <a:ext cx="850392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7914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Export to MySQL:  engine = create_engine("mysql+pymysql://root:***@localhost:3306/customer_behaviour")  →  df.to_sql("customer", engine, if_exists="replace")  →  3900 rows loaded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— SQL Analysis  (Queries 1–5)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 ·  Subqueries  ·  GROUP BY  ·  HAVING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206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1042416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042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424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Revenue by Gender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" y="1316736"/>
            <a:ext cx="4059936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35024"/>
            <a:ext cx="3986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gender, SUM(purchase_amount) AS revenue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GROUP BY gender;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3192" y="1984248"/>
            <a:ext cx="4059936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0116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Male: $157,890  |  Female: $75,191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2062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4206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1042416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042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0" y="10424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High Spenders with Discount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28032" y="1316736"/>
            <a:ext cx="4059936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335024"/>
            <a:ext cx="3986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purchase_amount FROM customer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discount_applied='Yes'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purchase_amount &gt;= (SELECT AVG(purchase_amount) FROM customer);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28032" y="1984248"/>
            <a:ext cx="4059936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0116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1,677 discount users — 43% still spent above avg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578608"/>
            <a:ext cx="42062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578608"/>
            <a:ext cx="4206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3566160" y="2615184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615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26151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Top 5 Products by Rating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" y="2889504"/>
            <a:ext cx="4059936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907792"/>
            <a:ext cx="3986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item_purchased,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ROUND(AVG(review_rating),2) AS avg_rating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item_purchased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avg_rating DESC LIMIT 5;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93192" y="3557016"/>
            <a:ext cx="4059936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58444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Blouse, Dress, Socks, Jacket, Coat — rated 3.85+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578608"/>
            <a:ext cx="42062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578608"/>
            <a:ext cx="4206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8001000" y="2615184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0" y="2615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6320" y="26151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Standard vs Express Shipping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28032" y="2889504"/>
            <a:ext cx="4059936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907792"/>
            <a:ext cx="3986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shipping_type,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ROUND(AVG(purchase_amount),2) AS avg_spend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shipping_type IN ('Standard','Express')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shipping_type;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28032" y="3557016"/>
            <a:ext cx="4059936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58444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Standard: $61.13  |  Express: $58.38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377440" y="4151376"/>
            <a:ext cx="43891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377440" y="4151376"/>
            <a:ext cx="438912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Shape 41"/>
          <p:cNvSpPr/>
          <p:nvPr/>
        </p:nvSpPr>
        <p:spPr>
          <a:xfrm>
            <a:off x="5806440" y="418795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468880" y="41879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Subscriber vs Non-Subscriber Spend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50592" y="4462272"/>
            <a:ext cx="4242816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87168" y="4480560"/>
            <a:ext cx="4169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subscription_status,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COUNT(customer_id) AS total_customers,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ROUND(AVG(purchase_amount),2) AS avg_spend,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ROUND(SUM(purchase_amount),2) AS total_revenue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GROUP BY subscription_status;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450592" y="5129784"/>
            <a:ext cx="4242816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87168" y="515721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Subscribers: $62,920 total  |  Non-sub: $170,161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— Advanced SQL Queries  (Q6–Q10)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 ·  Window Functions  ·  CASE WHEN  ·  ROW_NUMBER()  ·  Subquery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2062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102412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024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Discount Rate by Product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" y="1298448"/>
            <a:ext cx="4059936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16736"/>
            <a:ext cx="3986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item_purchased,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ROUND(100.0*SUM(CASE WHEN discount_applied='Yes'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1 ELSE 0 END)/COUNT(*),2) AS discount_rate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GROUP BY item_purchased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discount_rate DESC LIMIT 5;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93192" y="2148840"/>
            <a:ext cx="405993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16712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Gloves, Scarf, Shorts top discount usage at 48%+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987552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87552"/>
            <a:ext cx="42062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Shape 14"/>
          <p:cNvSpPr/>
          <p:nvPr/>
        </p:nvSpPr>
        <p:spPr>
          <a:xfrm>
            <a:off x="7909560" y="102412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1024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0" y="10241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Customer Segmentation (CTE)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28032" y="1298448"/>
            <a:ext cx="4059936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316736"/>
            <a:ext cx="3986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customer_type AS 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customer_id, previous_purchases,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WHEN previous_purchases=1 THEN 'New'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WHEN previous_purchases BETWEEN 2 AND 10 THEN 'Returning'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ELSE 'Loyal' END AS customer_segment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customer)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customer_segment, COUNT(*) FROM customer_type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customer_segment;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828032" y="2148840"/>
            <a:ext cx="405993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16712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New: 79  |  Returning: 573  |  Loyal: 3,248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651760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651760"/>
            <a:ext cx="42062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0" y="268833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6883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2688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Top 3 Products per Category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" y="2962656"/>
            <a:ext cx="4059936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980944"/>
            <a:ext cx="3986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item_counts AS 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category, item_purchased,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COUNT(customer_id) AS total_orders,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ROW_NUMBER() OVER (PARTITION BY category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COUNT(customer_id) DESC) AS item_rank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customer GROUP BY category, item_purchased)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item_rank, category, item_purchased, total_orders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item_counts WHERE item_rank &lt;= 3;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93192" y="3813048"/>
            <a:ext cx="405993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83133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Clothing: Blouse/Pants/Dress  |  Accessories: Jewelry/Belt/Bag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651760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651760"/>
            <a:ext cx="42062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Shape 32"/>
          <p:cNvSpPr/>
          <p:nvPr/>
        </p:nvSpPr>
        <p:spPr>
          <a:xfrm>
            <a:off x="7909560" y="268833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26883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6320" y="2688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Repeat Buyers &amp; Subscription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28032" y="2962656"/>
            <a:ext cx="4059936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980944"/>
            <a:ext cx="3986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subscription_status,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COUNT(customer_id) AS repeat_buyers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previous_purchases &gt; 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subscription_status;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28032" y="3813048"/>
            <a:ext cx="405993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83133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Repeat buyers: 73% NOT subscribed — loyalty gap identified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77440" y="4315968"/>
            <a:ext cx="43891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377440" y="4315968"/>
            <a:ext cx="438912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4352544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4352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468880" y="43525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Revenue by Age Group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50592" y="4626864"/>
            <a:ext cx="4242816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87168" y="4645152"/>
            <a:ext cx="4169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age_group,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SUM(purchase_amount) AS total_revenue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age_group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total_revenue DESC;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50592" y="5477256"/>
            <a:ext cx="424281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87168" y="5495544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Senior: $63,200 (highest)  |  Young Adult: $51,840 (lowest)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 — Interactive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 ·  Revenue Charts  ·  Subscription Donut  ·  Payment Pie  ·  Map Visual  ·  Slicers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96112"/>
            <a:ext cx="640080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1005840"/>
            <a:ext cx="2011680" cy="8229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0" y="10789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3.90K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0" y="1965960"/>
            <a:ext cx="201168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0" y="20391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2926080"/>
            <a:ext cx="2011680" cy="8229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0" y="29992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0" y="3886200"/>
            <a:ext cx="2011680" cy="82296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0" y="39593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3.90K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5010912"/>
            <a:ext cx="85039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" y="4901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includes slicers for Gender, Location, Shipping Type and Purchase Frequency — enabling dynamic cross-filtering across all visuals.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Key Insights from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drawn from Python EDA + SQL Queries + Power BI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24128"/>
            <a:ext cx="502920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264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Dominate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(2,652) of customers are Male. However, Female customers have a slightly higher avg purchase ($60.25 vs $59.54).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24128"/>
            <a:ext cx="502920" cy="1234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4264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11155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Are Top Spenders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630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55+ (Seniors) contribute $63,200 — the highest revenue of any age group. Young Adults contribute the least at $51,840.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5000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50008"/>
            <a:ext cx="502920" cy="1234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7523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2441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 All Categories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7889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accounts for 44.5% (1,737) of all orders. Blouse, Pants and Jewelry are top-3 most purchased items.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35000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50008"/>
            <a:ext cx="50292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7523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94960" y="2441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= Peak Revenue Season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7889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generates the highest average purchase ($61.56). Summer is the lowest ($58.41) — ideal window for promotional campaigns.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7588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75888"/>
            <a:ext cx="502920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0782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37673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Are Loyal Customers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1148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CTE analysis: 3,248 out of 3,900 customers are Loyal (10+ previous purchases). Only 79 are truly New customers.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67588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75888"/>
            <a:ext cx="502920" cy="12344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40782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94960" y="37673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Programme Gap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1148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repeat buyers are NOT subscribed. Q9 SQL query revealed this gap — major opportunity to grow subscriber base.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Analysis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visuals from Python &amp; SQL analysis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4160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960120"/>
          <a:ext cx="4160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320040" y="3364992"/>
          <a:ext cx="41605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4663440" y="3364992"/>
          <a:ext cx="41605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347472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actionable strategies derived from the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411480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115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 Target Senior Customers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360" y="1133856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1338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5528" y="147218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generate highest revenue ($63.2K). Create premium product lines and age-targeted marketing campaigns.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1051560"/>
            <a:ext cx="411480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1115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Summer Discount Campaigns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133856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1338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SQL Q1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93208" y="147218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is the lowest spend season ($58.41 avg). Run targeted promotions in June–August to boost off-peak revenue.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313432"/>
            <a:ext cx="411480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2377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Grow Subscription 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239572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Q5 + Q9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95528" y="273405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loyal/repeat buyers are not subscribed. Launch exclusive subscriber benefits to convert them.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2313432"/>
            <a:ext cx="411480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2377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Promote Free Shipping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21040" y="239572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93208" y="273405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is the most preferred option. Use it as a marketing hook to increase order conversion rates.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3575304"/>
            <a:ext cx="411480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36393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👗  Prioritise Clothing Quality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23360" y="365760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36576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5528" y="399592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#1 category but has lowest review rating (3.72). Improve product quality to reduce churn risk.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3575304"/>
            <a:ext cx="411480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3208" y="36393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Rethink Discount Strategy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21040" y="365760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36576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93208" y="399592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shows top discounted products still have strong purchase rates. Selective discounting can protect margins.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6400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Behaviour Analysis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2240280"/>
            <a:ext cx="457200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423160"/>
            <a:ext cx="173736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87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EDA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80360" y="2423160"/>
            <a:ext cx="173736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2487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80360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173736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87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12280" y="2423160"/>
            <a:ext cx="173736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487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" y="3730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Kanika Sharma  |  B.Tech CSE  |  2026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0416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Institute of Technology &amp; Management, Farrukhnagar  |  Gurugram University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491032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 |  3,900 Records  |  18 Attributes  |  $233,081 Total Revenue  |  10 SQL Queries  |  1 Power BI Dashboard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Behaviour Analysis</dc:title>
  <dc:subject>PptxGenJS Presentation</dc:subject>
  <dc:creator>Kanika Sharma</dc:creator>
  <cp:lastModifiedBy>Kanika Sharma</cp:lastModifiedBy>
  <cp:revision>1</cp:revision>
  <dcterms:created xsi:type="dcterms:W3CDTF">2026-07-18T07:00:33Z</dcterms:created>
  <dcterms:modified xsi:type="dcterms:W3CDTF">2026-07-18T07:00:33Z</dcterms:modified>
</cp:coreProperties>
</file>